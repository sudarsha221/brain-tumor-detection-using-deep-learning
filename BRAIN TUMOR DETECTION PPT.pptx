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2" r:id="rId2"/>
    <p:sldId id="266" r:id="rId3"/>
    <p:sldId id="256" r:id="rId4"/>
    <p:sldId id="273" r:id="rId5"/>
    <p:sldId id="274" r:id="rId6"/>
    <p:sldId id="268" r:id="rId7"/>
    <p:sldId id="257" r:id="rId8"/>
    <p:sldId id="271" r:id="rId9"/>
    <p:sldId id="258" r:id="rId10"/>
    <p:sldId id="259" r:id="rId11"/>
    <p:sldId id="260" r:id="rId12"/>
    <p:sldId id="261" r:id="rId13"/>
    <p:sldId id="262" r:id="rId14"/>
    <p:sldId id="267" r:id="rId15"/>
    <p:sldId id="263" r:id="rId16"/>
    <p:sldId id="269" r:id="rId17"/>
    <p:sldId id="270" r:id="rId18"/>
    <p:sldId id="276" r:id="rId19"/>
    <p:sldId id="275" r:id="rId20"/>
    <p:sldId id="264" r:id="rId21"/>
    <p:sldId id="26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6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96937" y="981796"/>
            <a:ext cx="358457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400" b="1" dirty="0">
                <a:solidFill>
                  <a:srgbClr val="00B050"/>
                </a:solidFill>
                <a:cs typeface="Times New Roman" panose="02020603050405020304" pitchFamily="18" charset="0"/>
                <a:sym typeface="+mn-ea"/>
              </a:rPr>
              <a:t>KUVEMPU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292960" y="1004360"/>
            <a:ext cx="4362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400" b="1" dirty="0">
                <a:solidFill>
                  <a:srgbClr val="00B050"/>
                </a:solidFill>
                <a:cs typeface="Times New Roman" panose="02020603050405020304" pitchFamily="18" charset="0"/>
                <a:sym typeface="+mn-ea"/>
              </a:rPr>
              <a:t>UNIVERSITY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318" y="664787"/>
            <a:ext cx="198437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113073" y="2079737"/>
            <a:ext cx="6203613" cy="670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 dirty="0">
                <a:cs typeface="Times New Roman" panose="02020603050405020304" pitchFamily="18" charset="0"/>
                <a:sym typeface="+mn-ea"/>
              </a:rPr>
              <a:t>JNANASAHYADRI SHANKARGHATTA</a:t>
            </a:r>
          </a:p>
          <a:p>
            <a:pPr algn="ctr"/>
            <a:r>
              <a:rPr lang="en-IN" altLang="en-US" sz="2000" b="1" dirty="0">
                <a:cs typeface="Times New Roman" panose="02020603050405020304" pitchFamily="18" charset="0"/>
                <a:sym typeface="+mn-ea"/>
              </a:rPr>
              <a:t>Kuvempu University</a:t>
            </a:r>
            <a:endParaRPr lang="en-US" altLang="en-US" sz="2000" b="1" dirty="0">
              <a:cs typeface="Times New Roman" panose="02020603050405020304" pitchFamily="18" charset="0"/>
            </a:endParaRPr>
          </a:p>
          <a:p>
            <a:pPr algn="ctr"/>
            <a:endParaRPr lang="en-US" altLang="en-US" b="1" dirty="0"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174806" y="2959397"/>
            <a:ext cx="72755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 dirty="0" smtClean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Project </a:t>
            </a:r>
            <a:r>
              <a:rPr lang="en-US" altLang="en-US" sz="2000" b="1" dirty="0" smtClean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ON</a:t>
            </a:r>
            <a:r>
              <a:rPr lang="en-US" altLang="en-US" sz="2000" b="1" dirty="0" smtClean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:-</a:t>
            </a:r>
            <a:r>
              <a:rPr lang="en-US" altLang="en-US" sz="2000" b="1" dirty="0" smtClean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Brain Tumor Detection Using Deep Learning</a:t>
            </a:r>
            <a:endParaRPr lang="en-IN" altLang="en-US" sz="2000" b="1" dirty="0">
              <a:solidFill>
                <a:srgbClr val="C00000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3831771" y="4178597"/>
            <a:ext cx="4049486" cy="19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sz="1800" b="1" dirty="0">
                <a:cs typeface="Times New Roman" panose="02020603050405020304" pitchFamily="18" charset="0"/>
                <a:sym typeface="+mn-ea"/>
              </a:rPr>
              <a:t>PRESENTED TO </a:t>
            </a:r>
            <a:r>
              <a:rPr lang="en-US" altLang="en-US" sz="1800" b="1" dirty="0" smtClean="0">
                <a:cs typeface="Times New Roman" panose="02020603050405020304" pitchFamily="18" charset="0"/>
                <a:sym typeface="+mn-ea"/>
              </a:rPr>
              <a:t>:-</a:t>
            </a:r>
          </a:p>
          <a:p>
            <a:pPr algn="just"/>
            <a:r>
              <a:rPr lang="en-IN" altLang="en-US" sz="1800" b="1" dirty="0" smtClean="0">
                <a:cs typeface="Times New Roman" panose="02020603050405020304" pitchFamily="18" charset="0"/>
                <a:sym typeface="+mn-ea"/>
              </a:rPr>
              <a:t>Dr.PRABHAKAR C.J</a:t>
            </a:r>
            <a:endParaRPr lang="en-US" altLang="en-US" sz="1800" b="1" dirty="0">
              <a:cs typeface="Times New Roman" panose="02020603050405020304" pitchFamily="18" charset="0"/>
            </a:endParaRPr>
          </a:p>
          <a:p>
            <a:r>
              <a:rPr lang="en-IN" altLang="en-US" sz="1800" b="1" dirty="0">
                <a:cs typeface="Times New Roman" panose="02020603050405020304" pitchFamily="18" charset="0"/>
              </a:rPr>
              <a:t>Dep</a:t>
            </a:r>
            <a:r>
              <a:rPr lang="en-IN" altLang="en-US" sz="1800" u="sng" dirty="0">
                <a:cs typeface="Times New Roman" panose="02020603050405020304" pitchFamily="18" charset="0"/>
                <a:sym typeface="+mn-ea"/>
              </a:rPr>
              <a:t>t. </a:t>
            </a:r>
            <a:r>
              <a:rPr lang="en-IN" altLang="en-US" sz="1800" dirty="0" smtClean="0">
                <a:cs typeface="Times New Roman" panose="02020603050405020304" pitchFamily="18" charset="0"/>
                <a:sym typeface="+mn-ea"/>
              </a:rPr>
              <a:t>of MCA and </a:t>
            </a:r>
            <a:r>
              <a:rPr lang="en-US" altLang="en-IN" sz="1800" dirty="0">
                <a:cs typeface="Times New Roman" panose="02020603050405020304" pitchFamily="18" charset="0"/>
                <a:sym typeface="+mn-ea"/>
              </a:rPr>
              <a:t>Computer Science</a:t>
            </a:r>
            <a:endParaRPr lang="en-IN" altLang="en-US" sz="1800" dirty="0">
              <a:cs typeface="Times New Roman" panose="02020603050405020304" pitchFamily="18" charset="0"/>
            </a:endParaRPr>
          </a:p>
          <a:p>
            <a:pPr algn="just"/>
            <a:r>
              <a:rPr lang="en-IN" altLang="en-US" sz="1800" dirty="0">
                <a:cs typeface="Times New Roman" panose="02020603050405020304" pitchFamily="18" charset="0"/>
                <a:sym typeface="+mn-ea"/>
              </a:rPr>
              <a:t>KUVEMPU  UNIVERSITY</a:t>
            </a:r>
            <a:endParaRPr lang="en-IN" altLang="en-US" sz="1800" dirty="0">
              <a:cs typeface="Times New Roman" panose="02020603050405020304" pitchFamily="18" charset="0"/>
            </a:endParaRPr>
          </a:p>
          <a:p>
            <a:pPr algn="just"/>
            <a:r>
              <a:rPr lang="en-IN" altLang="en-US" sz="1800" dirty="0">
                <a:cs typeface="Times New Roman" panose="02020603050405020304" pitchFamily="18" charset="0"/>
                <a:sym typeface="+mn-ea"/>
              </a:rPr>
              <a:t>JNANA SAHYADRI</a:t>
            </a:r>
            <a:endParaRPr lang="en-IN" altLang="en-US" sz="1800" dirty="0">
              <a:cs typeface="Times New Roman" panose="02020603050405020304" pitchFamily="18" charset="0"/>
            </a:endParaRPr>
          </a:p>
          <a:p>
            <a:pPr algn="just"/>
            <a:r>
              <a:rPr lang="en-IN" altLang="en-US" sz="1800" dirty="0">
                <a:cs typeface="Times New Roman" panose="02020603050405020304" pitchFamily="18" charset="0"/>
                <a:sym typeface="+mn-ea"/>
              </a:rPr>
              <a:t>SHANKARAGHATTA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838994" y="3359507"/>
            <a:ext cx="4125388" cy="915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 dirty="0">
                <a:cs typeface="Times New Roman" panose="02020603050405020304" pitchFamily="18" charset="0"/>
                <a:sym typeface="+mn-ea"/>
              </a:rPr>
              <a:t>PRESENTED BY :-</a:t>
            </a:r>
            <a:endParaRPr lang="en-US" altLang="en-US" sz="2000" b="1" dirty="0">
              <a:cs typeface="Times New Roman" panose="02020603050405020304" pitchFamily="18" charset="0"/>
            </a:endParaRPr>
          </a:p>
          <a:p>
            <a:pPr algn="ctr"/>
            <a:r>
              <a:rPr lang="en-IN" altLang="en-US" sz="2000" b="1" dirty="0" smtClean="0">
                <a:cs typeface="Times New Roman" panose="02020603050405020304" pitchFamily="18" charset="0"/>
                <a:sym typeface="+mn-ea"/>
              </a:rPr>
              <a:t>Sudarshan </a:t>
            </a:r>
            <a:r>
              <a:rPr lang="en-IN" altLang="en-US" sz="2000" b="1" dirty="0" smtClean="0">
                <a:cs typeface="Times New Roman" panose="02020603050405020304" pitchFamily="18" charset="0"/>
                <a:sym typeface="+mn-ea"/>
              </a:rPr>
              <a:t>D</a:t>
            </a:r>
            <a:endParaRPr lang="en-IN" altLang="en-US" sz="2000" b="1" dirty="0"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415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CONTENT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Aim</a:t>
            </a:r>
          </a:p>
          <a:p>
            <a:r>
              <a:rPr lang="en-US" b="1" dirty="0" smtClean="0"/>
              <a:t>Objective</a:t>
            </a:r>
          </a:p>
          <a:p>
            <a:r>
              <a:rPr lang="en-US" b="1" dirty="0" smtClean="0"/>
              <a:t>Challenges</a:t>
            </a:r>
          </a:p>
          <a:p>
            <a:r>
              <a:rPr lang="en-US" b="1" dirty="0"/>
              <a:t>Application of the </a:t>
            </a:r>
            <a:r>
              <a:rPr lang="en-US" b="1" dirty="0" smtClean="0"/>
              <a:t>Model</a:t>
            </a:r>
            <a:endParaRPr lang="en-US" dirty="0"/>
          </a:p>
          <a:p>
            <a:r>
              <a:rPr lang="en-IN" b="1" dirty="0" smtClean="0"/>
              <a:t>Methodology</a:t>
            </a:r>
          </a:p>
          <a:p>
            <a:r>
              <a:rPr lang="en-IN" b="1" dirty="0" smtClean="0"/>
              <a:t>Conclusion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785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152" y="616372"/>
            <a:ext cx="9600535" cy="767155"/>
          </a:xfrm>
        </p:spPr>
        <p:txBody>
          <a:bodyPr/>
          <a:lstStyle/>
          <a:p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8152" y="1461904"/>
            <a:ext cx="10925093" cy="4667416"/>
          </a:xfrm>
        </p:spPr>
        <p:txBody>
          <a:bodyPr>
            <a:no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brain tumor</a:t>
            </a:r>
            <a:r>
              <a:rPr lang="en-US" sz="2000" dirty="0"/>
              <a:t> is a lump or mass of </a:t>
            </a:r>
            <a:r>
              <a:rPr lang="en-US" sz="2000" b="1" dirty="0"/>
              <a:t>abnormal cells</a:t>
            </a:r>
            <a:r>
              <a:rPr lang="en-US" sz="2000" dirty="0"/>
              <a:t> that grows in the brain. Normally, the cells in our body grow and divide in a controlled way. But sometimes, certain cells in the brain start to grow </a:t>
            </a:r>
            <a:r>
              <a:rPr lang="en-US" sz="2000" b="1" dirty="0"/>
              <a:t>too fast or in the wrong way</a:t>
            </a:r>
            <a:r>
              <a:rPr lang="en-US" sz="2000" dirty="0"/>
              <a:t>, forming a tumor. </a:t>
            </a:r>
            <a:endParaRPr lang="en-US" sz="2000" dirty="0" smtClean="0"/>
          </a:p>
          <a:p>
            <a:r>
              <a:rPr lang="en-US" sz="2000" dirty="0" smtClean="0"/>
              <a:t>There </a:t>
            </a:r>
            <a:r>
              <a:rPr lang="en-US" sz="2000" dirty="0"/>
              <a:t>are two main types of tumors malignant (cancerous) tumors and benign (non-cancerous) </a:t>
            </a:r>
            <a:r>
              <a:rPr lang="en-US" sz="2000" dirty="0" smtClean="0"/>
              <a:t>tumors</a:t>
            </a:r>
          </a:p>
          <a:p>
            <a:r>
              <a:rPr lang="en-US" sz="2000" dirty="0"/>
              <a:t>These can be further classified as primary tumors, which start within the brain, and secondary tumors</a:t>
            </a:r>
            <a:endParaRPr lang="en-US" sz="2000" dirty="0" smtClean="0"/>
          </a:p>
          <a:p>
            <a:endParaRPr lang="en-IN" sz="2000" dirty="0"/>
          </a:p>
          <a:p>
            <a:endParaRPr lang="en-IN" sz="2000" dirty="0" smtClean="0"/>
          </a:p>
          <a:p>
            <a:endParaRPr lang="en-IN" sz="2000" dirty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b="1" dirty="0" smtClean="0"/>
              <a:t>			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b="1" dirty="0" smtClean="0"/>
              <a:t>			Fig </a:t>
            </a:r>
            <a:r>
              <a:rPr lang="en-US" sz="2000" b="1" dirty="0"/>
              <a:t>1:</a:t>
            </a:r>
            <a:r>
              <a:rPr lang="en-US" sz="2000" dirty="0"/>
              <a:t> Visualization of a brain tumor highlighted in red within the brain structure.</a:t>
            </a:r>
          </a:p>
          <a:p>
            <a:endParaRPr lang="en-US" sz="2000" dirty="0" smtClean="0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801" y="3574732"/>
            <a:ext cx="360045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9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70560" y="641577"/>
            <a:ext cx="10850880" cy="5567634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Malignant:</a:t>
            </a:r>
            <a:r>
              <a:rPr lang="en-US" sz="2000" dirty="0"/>
              <a:t> </a:t>
            </a:r>
            <a:endParaRPr lang="en-US" sz="2000" dirty="0" smtClean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 smtClean="0"/>
              <a:t>A </a:t>
            </a:r>
            <a:r>
              <a:rPr lang="en-US" dirty="0"/>
              <a:t>malignant brain tumor is a cancerous lump that grows inside the brain. </a:t>
            </a:r>
            <a:endParaRPr lang="en-US" dirty="0" smtClean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 smtClean="0"/>
              <a:t>It </a:t>
            </a:r>
            <a:r>
              <a:rPr lang="en-US" dirty="0"/>
              <a:t>is made up of abnormal cells that grow very fast</a:t>
            </a:r>
            <a:r>
              <a:rPr lang="en-US" b="1" dirty="0"/>
              <a:t> </a:t>
            </a:r>
            <a:r>
              <a:rPr lang="en-US" dirty="0"/>
              <a:t>and do not</a:t>
            </a:r>
            <a:r>
              <a:rPr lang="en-US" b="1" dirty="0"/>
              <a:t> </a:t>
            </a:r>
            <a:r>
              <a:rPr lang="en-US" dirty="0"/>
              <a:t>stop when they should</a:t>
            </a:r>
            <a:r>
              <a:rPr lang="en-US" dirty="0" smtClean="0"/>
              <a:t>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 smtClean="0"/>
              <a:t> </a:t>
            </a:r>
            <a:r>
              <a:rPr lang="en-US" dirty="0"/>
              <a:t>These cells can damage healthy brain parts and cause serious health problems. </a:t>
            </a:r>
            <a:endParaRPr lang="en-US" dirty="0" smtClean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 smtClean="0"/>
              <a:t>Malignant </a:t>
            </a:r>
            <a:r>
              <a:rPr lang="en-US" dirty="0"/>
              <a:t>tumors are more dangerous than non-cancerous (benign) </a:t>
            </a:r>
            <a:r>
              <a:rPr lang="en-US" dirty="0" smtClean="0"/>
              <a:t>tumors</a:t>
            </a:r>
          </a:p>
          <a:p>
            <a:pPr algn="just"/>
            <a:r>
              <a:rPr lang="en-US" sz="2000" b="1" dirty="0"/>
              <a:t>Benign:</a:t>
            </a:r>
            <a:r>
              <a:rPr lang="en-US" sz="2000" dirty="0"/>
              <a:t> Benign (non-cancerous) tumors are abnormal masses of cells that grow in a controlled manner and do not invade surrounding tissues or spread to distant parts of the body like cancerous tumors </a:t>
            </a:r>
            <a:r>
              <a:rPr lang="en-US" sz="2000" dirty="0" smtClean="0"/>
              <a:t>do</a:t>
            </a:r>
          </a:p>
          <a:p>
            <a:r>
              <a:rPr lang="en-US" sz="2000" b="1" dirty="0"/>
              <a:t>P</a:t>
            </a:r>
            <a:r>
              <a:rPr lang="en-US" sz="2000" b="1" dirty="0" smtClean="0"/>
              <a:t>rimary </a:t>
            </a:r>
            <a:r>
              <a:rPr lang="en-US" sz="2000" b="1" dirty="0"/>
              <a:t>brain tumour</a:t>
            </a:r>
            <a:r>
              <a:rPr lang="en-US" sz="2000" dirty="0"/>
              <a:t> </a:t>
            </a:r>
            <a:r>
              <a:rPr lang="en-US" sz="2000" dirty="0" smtClean="0"/>
              <a:t>starts </a:t>
            </a:r>
            <a:r>
              <a:rPr lang="en-US" sz="2000" dirty="0"/>
              <a:t>inside the brain. It happens when brain cells grow abnormally and form a lump. It does not come from cancer in another body part.</a:t>
            </a:r>
          </a:p>
          <a:p>
            <a:pPr marL="0" indent="0">
              <a:buNone/>
            </a:pPr>
            <a:r>
              <a:rPr lang="en-US" sz="2000" b="1" dirty="0"/>
              <a:t>Common types:</a:t>
            </a:r>
            <a:endParaRPr lang="en-US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Gliomas </a:t>
            </a:r>
            <a:endParaRPr lang="en-US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Meningiomas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Pituitary adenomas</a:t>
            </a:r>
          </a:p>
        </p:txBody>
      </p:sp>
    </p:spTree>
    <p:extLst>
      <p:ext uri="{BB962C8B-B14F-4D97-AF65-F5344CB8AC3E}">
        <p14:creationId xmlns:p14="http://schemas.microsoft.com/office/powerpoint/2010/main" val="229466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8310" y="731520"/>
            <a:ext cx="110250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Gliomas</a:t>
            </a:r>
            <a:r>
              <a:rPr lang="en-US" dirty="0"/>
              <a:t>: </a:t>
            </a:r>
            <a:endParaRPr lang="en-US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Gliomas </a:t>
            </a:r>
            <a:r>
              <a:rPr lang="en-US" dirty="0"/>
              <a:t>are one of the most common types of primary brain</a:t>
            </a:r>
            <a:r>
              <a:rPr lang="en-US" b="1" dirty="0"/>
              <a:t> </a:t>
            </a:r>
            <a:r>
              <a:rPr lang="en-US" dirty="0"/>
              <a:t>tumors.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They develop from glial cells, which are the supporting cells in the brain</a:t>
            </a:r>
            <a:r>
              <a:rPr lang="en-US" dirty="0" smtClean="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 </a:t>
            </a:r>
            <a:r>
              <a:rPr lang="en-US" dirty="0"/>
              <a:t>These cells help neurons (nerve cells) by providing structure, nutrients, and protection</a:t>
            </a:r>
            <a:r>
              <a:rPr lang="en-US" dirty="0" smtClean="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 </a:t>
            </a:r>
            <a:r>
              <a:rPr lang="en-US" dirty="0"/>
              <a:t>When glial cells start to grow abnormally and uncontrollably, they form a tumors called a </a:t>
            </a:r>
            <a:r>
              <a:rPr lang="en-US" dirty="0" smtClean="0"/>
              <a:t>glioma</a:t>
            </a:r>
          </a:p>
          <a:p>
            <a:r>
              <a:rPr lang="en-US" b="1" dirty="0"/>
              <a:t>Effect:</a:t>
            </a:r>
            <a:r>
              <a:rPr lang="en-US" dirty="0"/>
              <a:t> May press on or damage brain tissue, affecting movement, speech, or </a:t>
            </a:r>
            <a:r>
              <a:rPr lang="en-US" dirty="0" smtClean="0"/>
              <a:t>vision</a:t>
            </a:r>
          </a:p>
          <a:p>
            <a:r>
              <a:rPr lang="en-US" b="1" dirty="0"/>
              <a:t>Meningioma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Origin:</a:t>
            </a:r>
            <a:r>
              <a:rPr lang="en-US" dirty="0"/>
              <a:t> Meninges (protective layers covering brain and spinal cord)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Growth:</a:t>
            </a:r>
            <a:r>
              <a:rPr lang="en-US" dirty="0"/>
              <a:t> Usually benign, slow-growing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Effect:</a:t>
            </a:r>
            <a:r>
              <a:rPr lang="en-US" dirty="0"/>
              <a:t> Can cause headaches, seizures, or vision changes by pressing on the </a:t>
            </a:r>
            <a:r>
              <a:rPr lang="en-US" dirty="0" smtClean="0"/>
              <a:t>brain</a:t>
            </a:r>
          </a:p>
          <a:p>
            <a:endParaRPr lang="en-US" b="1" dirty="0" smtClean="0"/>
          </a:p>
          <a:p>
            <a:r>
              <a:rPr lang="en-US" b="1" dirty="0" smtClean="0"/>
              <a:t>Pituitary </a:t>
            </a:r>
            <a:r>
              <a:rPr lang="en-US" b="1" dirty="0"/>
              <a:t>Tumour (Pituitary Adenoma)</a:t>
            </a:r>
            <a:endParaRPr lang="en-US" dirty="0"/>
          </a:p>
          <a:p>
            <a:r>
              <a:rPr lang="en-US" b="1" dirty="0"/>
              <a:t>Origin:</a:t>
            </a:r>
            <a:r>
              <a:rPr lang="en-US" dirty="0"/>
              <a:t> Pituitary gland (controls hormones)</a:t>
            </a:r>
          </a:p>
          <a:p>
            <a:r>
              <a:rPr lang="en-US" b="1" dirty="0" smtClean="0"/>
              <a:t>Effect</a:t>
            </a:r>
            <a:r>
              <a:rPr lang="en-US" b="1" dirty="0"/>
              <a:t>:</a:t>
            </a:r>
            <a:r>
              <a:rPr lang="en-US" dirty="0"/>
              <a:t> Can change hormone levels, causing symptoms like weight change, vision problems, or growth issues</a:t>
            </a:r>
          </a:p>
          <a:p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4563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AIM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58741" y="2725479"/>
            <a:ext cx="2596032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aim of the brain tumor detection project is to develop an automated system using deep learning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accurately detects brain tumors from MRI images.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assists doctors in early diagnosis, reduces human error, improves diagnostic speed,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supports better clinical decision-making for effective treatment planning.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84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861" y="2488758"/>
            <a:ext cx="10853530" cy="3792772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To build a brain tumor detection model using deep learning.</a:t>
            </a:r>
            <a:endParaRPr lang="en-US" dirty="0"/>
          </a:p>
          <a:p>
            <a:pPr lvl="0"/>
            <a:r>
              <a:rPr lang="en-IN" dirty="0"/>
              <a:t>To pre-process the MRI images by removing unwanted data and resizing.</a:t>
            </a:r>
            <a:endParaRPr lang="en-US" dirty="0"/>
          </a:p>
          <a:p>
            <a:pPr lvl="0"/>
            <a:r>
              <a:rPr lang="en-IN" dirty="0"/>
              <a:t>To use the VGG16 model for model training and classification.</a:t>
            </a:r>
            <a:endParaRPr lang="en-US" dirty="0"/>
          </a:p>
          <a:p>
            <a:pPr lvl="0"/>
            <a:r>
              <a:rPr lang="en-IN" dirty="0"/>
              <a:t>To evaluate the performance of the proposed model by various performance metrics.</a:t>
            </a:r>
            <a:endParaRPr lang="en-US" dirty="0"/>
          </a:p>
          <a:p>
            <a:pPr lvl="0"/>
            <a:r>
              <a:rPr lang="en-IN" dirty="0"/>
              <a:t>To create an interface where users can upload an MRI image and get the prediction result.</a:t>
            </a:r>
            <a:endParaRPr lang="en-US" dirty="0"/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32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Initial Setup </a:t>
            </a:r>
            <a:r>
              <a:rPr lang="en-US" dirty="0" smtClean="0"/>
              <a:t>Cost </a:t>
            </a:r>
          </a:p>
          <a:p>
            <a:pPr marL="0" indent="0">
              <a:buNone/>
            </a:pPr>
            <a:r>
              <a:rPr lang="en-US" dirty="0" smtClean="0"/>
              <a:t>Buying </a:t>
            </a:r>
            <a:r>
              <a:rPr lang="en-US" dirty="0"/>
              <a:t>sensors, machines, and software tools can be </a:t>
            </a:r>
            <a:r>
              <a:rPr lang="en-US" dirty="0" smtClean="0"/>
              <a:t>expensive.</a:t>
            </a:r>
          </a:p>
          <a:p>
            <a:r>
              <a:rPr lang="en-US" dirty="0" smtClean="0"/>
              <a:t>Security </a:t>
            </a:r>
            <a:r>
              <a:rPr lang="en-US" dirty="0"/>
              <a:t>and Privacy </a:t>
            </a:r>
            <a:r>
              <a:rPr lang="en-US" dirty="0" smtClean="0"/>
              <a:t>Issues</a:t>
            </a:r>
          </a:p>
          <a:p>
            <a:pPr marL="0" indent="0">
              <a:buNone/>
            </a:pPr>
            <a:r>
              <a:rPr lang="en-US" dirty="0"/>
              <a:t>Automated systems can be hacked or misused</a:t>
            </a:r>
            <a:r>
              <a:rPr lang="en-US" dirty="0" smtClean="0"/>
              <a:t>.</a:t>
            </a:r>
          </a:p>
          <a:p>
            <a:r>
              <a:rPr lang="en-US" b="1" dirty="0"/>
              <a:t>Maintenance and Updates</a:t>
            </a:r>
          </a:p>
          <a:p>
            <a:r>
              <a:rPr lang="en-US" dirty="0"/>
              <a:t>Systems need regular updates, hardware checks, and bug fixes.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06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the Model: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14" y="2496710"/>
            <a:ext cx="10917141" cy="3737113"/>
          </a:xfrm>
        </p:spPr>
        <p:txBody>
          <a:bodyPr>
            <a:normAutofit/>
          </a:bodyPr>
          <a:lstStyle/>
          <a:p>
            <a:r>
              <a:rPr lang="en-US" b="1" dirty="0"/>
              <a:t>Medical Diagnosis Support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→ Helps radiologists and doctors detect brain tumors from MRI scans quickly and accurately.</a:t>
            </a:r>
          </a:p>
          <a:p>
            <a:r>
              <a:rPr lang="en-US" b="1" dirty="0" smtClean="0"/>
              <a:t>Automation </a:t>
            </a:r>
            <a:r>
              <a:rPr lang="en-US" b="1" dirty="0"/>
              <a:t>in Hospitals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→ Can be integrated into hospital systems to reduce manual image analysis time and workload.</a:t>
            </a:r>
          </a:p>
          <a:p>
            <a:r>
              <a:rPr lang="en-US" b="1" dirty="0"/>
              <a:t>Mobile &amp; Web Health Tools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→ Can be deployed in mobile apps or web platforms to allow remote scanning and detection, especially in rural or low-resource areas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67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50" y="632275"/>
            <a:ext cx="9601196" cy="1303867"/>
          </a:xfrm>
        </p:spPr>
        <p:txBody>
          <a:bodyPr/>
          <a:lstStyle/>
          <a:p>
            <a:r>
              <a:rPr lang="en-IN" b="1" dirty="0" smtClean="0"/>
              <a:t>Methodology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250" y="2072640"/>
            <a:ext cx="10956898" cy="4161184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</a:t>
            </a:r>
          </a:p>
          <a:p>
            <a:r>
              <a:rPr lang="en-US" dirty="0"/>
              <a:t>The Brain Tumor MRI Dataset is a collection of 7,023 human brain MRI images aimed at supporting research and development in brain tumor </a:t>
            </a:r>
            <a:r>
              <a:rPr lang="en-US" dirty="0" smtClean="0"/>
              <a:t>detection. </a:t>
            </a:r>
          </a:p>
          <a:p>
            <a:r>
              <a:rPr lang="en-US" dirty="0" smtClean="0"/>
              <a:t>The </a:t>
            </a:r>
            <a:r>
              <a:rPr lang="en-US" dirty="0"/>
              <a:t>dataset is composed by merging three different </a:t>
            </a:r>
            <a:r>
              <a:rPr lang="en-US" dirty="0" smtClean="0"/>
              <a:t>sources</a:t>
            </a:r>
            <a:r>
              <a:rPr lang="en-US" dirty="0"/>
              <a:t>: the </a:t>
            </a:r>
            <a:r>
              <a:rPr lang="en-US" dirty="0" err="1"/>
              <a:t>Figshare</a:t>
            </a:r>
            <a:r>
              <a:rPr lang="en-US" dirty="0"/>
              <a:t> dataset, the SARTAJ dataset, and the Br35H dataset. </a:t>
            </a:r>
            <a:endParaRPr lang="en-US" dirty="0" smtClean="0"/>
          </a:p>
          <a:p>
            <a:r>
              <a:rPr lang="en-US" dirty="0" err="1"/>
              <a:t>Figshare</a:t>
            </a:r>
            <a:r>
              <a:rPr lang="en-US" dirty="0"/>
              <a:t> and SARTAJ contain MRI images labeled by tumor </a:t>
            </a:r>
            <a:r>
              <a:rPr lang="en-US" dirty="0" smtClean="0"/>
              <a:t>type 	</a:t>
            </a:r>
          </a:p>
          <a:p>
            <a:r>
              <a:rPr lang="en-US" dirty="0"/>
              <a:t>Br35H includes preprocessed and annotated MRI scans, supporting classification and segmentation tasks for brain tumor detection and </a:t>
            </a:r>
            <a:r>
              <a:rPr lang="en-US" dirty="0" smtClean="0"/>
              <a:t>analysis</a:t>
            </a:r>
          </a:p>
          <a:p>
            <a:r>
              <a:rPr lang="en-US" dirty="0"/>
              <a:t>Annotated MRI refers to MRI (Magnetic Resonance Imaging) scans that have been </a:t>
            </a:r>
            <a:r>
              <a:rPr lang="en-US" b="1" dirty="0"/>
              <a:t>labeled or marked</a:t>
            </a:r>
            <a:r>
              <a:rPr lang="en-US" dirty="0"/>
              <a:t> by experts (like radiologists) to highlight important regions—such as tumors, tissues, or abnormalities. These annotations can include: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9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75449286"/>
              </p:ext>
            </p:extLst>
          </p:nvPr>
        </p:nvGraphicFramePr>
        <p:xfrm>
          <a:off x="755374" y="1176787"/>
          <a:ext cx="10694504" cy="2838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7252"/>
                <a:gridCol w="5347252"/>
              </a:tblGrid>
              <a:tr h="4356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Class </a:t>
                      </a:r>
                      <a:r>
                        <a:rPr lang="en-US" sz="1050" b="1" dirty="0" smtClean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Images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05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Glioma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1,926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05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Meningioma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1,937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05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Pituitary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2,075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05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Tumor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05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7023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37036" y="650754"/>
            <a:ext cx="10074303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Here is the image count for each folder (class) in the Brain Tumor MRI Dataset: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028" y="4015405"/>
            <a:ext cx="6348536" cy="189241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759131" y="5762786"/>
            <a:ext cx="916141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    Fig</a:t>
            </a: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2: Sample MRI Images of Different Brain Tumor Types and Normal Case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35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7946" y="602771"/>
            <a:ext cx="2284600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class Balance: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862036"/>
              </p:ext>
            </p:extLst>
          </p:nvPr>
        </p:nvGraphicFramePr>
        <p:xfrm>
          <a:off x="847253" y="1085422"/>
          <a:ext cx="8845386" cy="2309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2693"/>
                <a:gridCol w="4422693"/>
              </a:tblGrid>
              <a:tr h="384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Class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Images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84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Glioma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84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Meningioma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84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Pituitary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84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Tumor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84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2840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47253" y="3489161"/>
            <a:ext cx="2092945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AUGMENTATION: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374177"/>
              </p:ext>
            </p:extLst>
          </p:nvPr>
        </p:nvGraphicFramePr>
        <p:xfrm>
          <a:off x="612249" y="3877857"/>
          <a:ext cx="10925093" cy="2316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1067"/>
                <a:gridCol w="3622013"/>
                <a:gridCol w="3622013"/>
              </a:tblGrid>
              <a:tr h="4124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Augmentation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 marT="0" marB="0"/>
                </a:tc>
              </a:tr>
              <a:tr h="2379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Original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original input image (no transformation).</a:t>
                      </a:r>
                    </a:p>
                  </a:txBody>
                  <a:tcPr marL="68580" marR="68580" marT="0" marB="0"/>
                </a:tc>
              </a:tr>
              <a:tr h="2379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Rotate +25°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Rotates the image </a:t>
                      </a:r>
                      <a:r>
                        <a:rPr lang="en-US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 degrees clockwise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/>
                </a:tc>
              </a:tr>
              <a:tr h="2379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Rotate -25°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Rotates the image </a:t>
                      </a:r>
                      <a:r>
                        <a:rPr lang="en-US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 degrees counter-clockwise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/>
                </a:tc>
              </a:tr>
              <a:tr h="2379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Horizontal Flip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Flips the image horizontally (left ↔ right).</a:t>
                      </a:r>
                    </a:p>
                  </a:txBody>
                  <a:tcPr marL="68580" marR="68580" marT="0" marB="0"/>
                </a:tc>
              </a:tr>
              <a:tr h="2379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Vertical Flip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Flips the image vertically (top ↔ bottom).</a:t>
                      </a:r>
                    </a:p>
                  </a:txBody>
                  <a:tcPr marL="68580" marR="68580" marT="0" marB="0"/>
                </a:tc>
              </a:tr>
              <a:tr h="2379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Zoom In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Zooms into the center of the image (crop and rescale).</a:t>
                      </a:r>
                    </a:p>
                  </a:txBody>
                  <a:tcPr marL="68580" marR="68580" marT="0" marB="0"/>
                </a:tc>
              </a:tr>
              <a:tr h="2379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Width Shift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Shifts the image left/right by a fraction of the width.</a:t>
                      </a:r>
                    </a:p>
                  </a:txBody>
                  <a:tcPr marL="68580" marR="68580" marT="0" marB="0"/>
                </a:tc>
              </a:tr>
              <a:tr h="2379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Height Shift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Shifts the image up/down by a fraction of the height.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87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29" y="1240405"/>
            <a:ext cx="9159902" cy="337537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51856" y="4615775"/>
            <a:ext cx="6234848" cy="498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tabLst>
                <a:tab pos="4274185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Fig. 3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Data Augmentation Techniques Applied to MRI Image</a:t>
            </a:r>
            <a:endParaRPr lang="en-US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04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32" y="1037443"/>
            <a:ext cx="7824190" cy="211490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7427" y="668111"/>
            <a:ext cx="25839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Working of CNN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90" y="3337011"/>
            <a:ext cx="25075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Layer of CNN model:</a:t>
            </a:r>
          </a:p>
        </p:txBody>
      </p:sp>
      <p:sp>
        <p:nvSpPr>
          <p:cNvPr id="5" name="Rectangle 4"/>
          <p:cNvSpPr/>
          <p:nvPr/>
        </p:nvSpPr>
        <p:spPr>
          <a:xfrm>
            <a:off x="885246" y="370634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Convolution 2D </a:t>
            </a:r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MAX </a:t>
            </a:r>
            <a:r>
              <a:rPr lang="pt-BR" dirty="0"/>
              <a:t>Poolig2D </a:t>
            </a:r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Dropout </a:t>
            </a:r>
            <a:r>
              <a:rPr lang="pt-BR" dirty="0"/>
              <a:t>o Flatten </a:t>
            </a:r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Dense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 Activation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22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16836" y="640758"/>
            <a:ext cx="9132072" cy="353156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VGG16 MODEL</a:t>
            </a:r>
            <a:endParaRPr lang="en-US" b="1" dirty="0"/>
          </a:p>
        </p:txBody>
      </p:sp>
      <p:pic>
        <p:nvPicPr>
          <p:cNvPr id="5" name="Picture 4" descr="VGG-16 architecture processing MRI dementia images. The ..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572" y="1541417"/>
            <a:ext cx="9840686" cy="269965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2461058" y="4241074"/>
            <a:ext cx="4410503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indent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Fig.4 VGG 16 Model architecture</a:t>
            </a:r>
            <a:endParaRPr lang="en-US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37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Result And Analysis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2793155"/>
          </a:xfrm>
        </p:spPr>
        <p:txBody>
          <a:bodyPr/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  Training </a:t>
            </a:r>
            <a:r>
              <a:rPr lang="en-IN" dirty="0"/>
              <a:t>vs Validation Accuracy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365" y="2421465"/>
            <a:ext cx="6793411" cy="30640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29691" y="5625737"/>
            <a:ext cx="63920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FiG.6 Training vs Validation Accuracy</a:t>
            </a:r>
            <a:endParaRPr lang="en-US" sz="2000" b="1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70369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666" y="982133"/>
            <a:ext cx="10188932" cy="68764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Improve the accuracy</a:t>
            </a:r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64" y="2593407"/>
            <a:ext cx="3848486" cy="2733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634446" y="3087881"/>
                <a:ext cx="4902925" cy="6822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371600" marR="0" indent="457200" algn="just">
                  <a:lnSpc>
                    <a:spcPct val="150000"/>
                  </a:lnSpc>
                </a:pPr>
                <a:r>
                  <a:rPr lang="en-IN" spc="10" dirty="0">
                    <a:solidFill>
                      <a:srgbClr val="273239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Accuracy=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𝑇𝑃</m:t>
                        </m:r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𝑇𝑃</m:t>
                        </m:r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𝑇𝑁</m:t>
                        </m:r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𝐹𝑃</m:t>
                        </m:r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446" y="3087881"/>
                <a:ext cx="4902925" cy="68223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031174" y="3960244"/>
                <a:ext cx="3595664" cy="690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371600" marR="0" indent="457200" algn="just">
                  <a:lnSpc>
                    <a:spcPct val="150000"/>
                  </a:lnSpc>
                </a:pPr>
                <a:r>
                  <a:rPr lang="en-IN" spc="10" dirty="0">
                    <a:solidFill>
                      <a:srgbClr val="273239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Precision=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1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𝑻𝑷</m:t>
                        </m:r>
                      </m:num>
                      <m:den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𝑇𝑃</m:t>
                        </m:r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174" y="3960244"/>
                <a:ext cx="3595664" cy="69070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286693" y="4841071"/>
                <a:ext cx="3340145" cy="682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371600" marR="0" indent="457200" algn="just">
                  <a:lnSpc>
                    <a:spcPct val="150000"/>
                  </a:lnSpc>
                </a:pPr>
                <a:r>
                  <a:rPr lang="en-IN" spc="10" dirty="0">
                    <a:solidFill>
                      <a:srgbClr val="273239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Recall=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𝑇𝑃</m:t>
                        </m:r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a:rPr lang="en-IN" i="1" spc="10">
                            <a:solidFill>
                              <a:srgbClr val="27323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693" y="4841071"/>
                <a:ext cx="3340145" cy="68223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717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526" y="934993"/>
            <a:ext cx="4380411" cy="2513601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577" y="934992"/>
            <a:ext cx="4546510" cy="2513601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063" y="3758700"/>
            <a:ext cx="6859905" cy="241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1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•True Positive (TP): The model correctly predicted a positive outcome i.e. the actual outcome was positive.</a:t>
            </a:r>
            <a:endParaRPr lang="en-US" dirty="0"/>
          </a:p>
          <a:p>
            <a:r>
              <a:rPr lang="en-IN" dirty="0"/>
              <a:t>•True Negative (TN): The model correctly predicted a negative outcome i.e. the actual outcome was negative.</a:t>
            </a:r>
            <a:endParaRPr lang="en-US" dirty="0"/>
          </a:p>
          <a:p>
            <a:r>
              <a:rPr lang="en-IN" dirty="0"/>
              <a:t>•False Positive (FP): The model incorrectly predicted a positive outcome i.e. the actual outcome was negative. It is also known as a Type I error.</a:t>
            </a:r>
            <a:endParaRPr lang="en-US" dirty="0"/>
          </a:p>
          <a:p>
            <a:r>
              <a:rPr lang="en-IN" dirty="0"/>
              <a:t>•False Negative (FN): The model incorrectly predicted a negative outcome i.e. the actual outcome was positive. It is also known as a Type II error</a:t>
            </a:r>
            <a:r>
              <a:rPr lang="en-IN" dirty="0" smtClean="0"/>
              <a:t>. 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3812" y="3017918"/>
            <a:ext cx="1083762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this project, a brain tumor detection model was successfully developed using deep learning techniques.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VGG16 pre-trained model was used for feature extraction and classification of brain MRI images.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showed good accuracy in detecting different types of brain tumors after preprocessing and training.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easy-to-use interface was also created to allow users to upload MRI images and get instant predictions.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system can help doctors in early diagnosis and reduce the time required for manual analysis.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project demonstrates the power of deep learning in medical image analysis and its potential in real-world healthcare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66020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98769" y="1976045"/>
            <a:ext cx="9601196" cy="1303867"/>
          </a:xfrm>
        </p:spPr>
        <p:txBody>
          <a:bodyPr/>
          <a:lstStyle/>
          <a:p>
            <a:r>
              <a:rPr lang="en-IN" b="1" dirty="0" smtClean="0">
                <a:latin typeface="Algerian" panose="04020705040A02060702" pitchFamily="82" charset="0"/>
              </a:rPr>
              <a:t>THANKYOU…</a:t>
            </a:r>
            <a:endParaRPr lang="en-US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31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599</TotalTime>
  <Words>981</Words>
  <Application>Microsoft Office PowerPoint</Application>
  <PresentationFormat>Widescreen</PresentationFormat>
  <Paragraphs>169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Algerian</vt:lpstr>
      <vt:lpstr>Arial</vt:lpstr>
      <vt:lpstr>Calibri</vt:lpstr>
      <vt:lpstr>Cambria Math</vt:lpstr>
      <vt:lpstr>Courier New</vt:lpstr>
      <vt:lpstr>Garamond</vt:lpstr>
      <vt:lpstr>Segoe UI</vt:lpstr>
      <vt:lpstr>Times New Roman</vt:lpstr>
      <vt:lpstr>Organic</vt:lpstr>
      <vt:lpstr>PowerPoint Presentation</vt:lpstr>
      <vt:lpstr>CONTENT</vt:lpstr>
      <vt:lpstr>Introduction</vt:lpstr>
      <vt:lpstr>PowerPoint Presentation</vt:lpstr>
      <vt:lpstr>PowerPoint Presentation</vt:lpstr>
      <vt:lpstr>AIM</vt:lpstr>
      <vt:lpstr>Objective:</vt:lpstr>
      <vt:lpstr>Challenges</vt:lpstr>
      <vt:lpstr>Application of the Model:</vt:lpstr>
      <vt:lpstr>Methodology</vt:lpstr>
      <vt:lpstr>PowerPoint Presentation</vt:lpstr>
      <vt:lpstr>PowerPoint Presentation</vt:lpstr>
      <vt:lpstr>PowerPoint Presentation</vt:lpstr>
      <vt:lpstr>PowerPoint Presentation</vt:lpstr>
      <vt:lpstr>VGG16 MODEL</vt:lpstr>
      <vt:lpstr>Result And Analysis</vt:lpstr>
      <vt:lpstr>Improve the accuracy</vt:lpstr>
      <vt:lpstr>PowerPoint Presentation</vt:lpstr>
      <vt:lpstr>PowerPoint Presentation</vt:lpstr>
      <vt:lpstr>Conclusion:</vt:lpstr>
      <vt:lpstr>THANKYOU…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Guru</dc:creator>
  <cp:lastModifiedBy>Guru</cp:lastModifiedBy>
  <cp:revision>39</cp:revision>
  <dcterms:created xsi:type="dcterms:W3CDTF">2025-06-29T13:57:11Z</dcterms:created>
  <dcterms:modified xsi:type="dcterms:W3CDTF">2025-08-11T05:32:10Z</dcterms:modified>
</cp:coreProperties>
</file>